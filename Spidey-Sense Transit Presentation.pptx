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</ns0:sldIdLst>
  <ns0:sldSz cx="12192000" cy="6858000" type="screen4x3"/>
  <ns0:notesSz cx="6858000" cy="9144000"/>
  <ns0:embeddedFontLst>
    <ns0:embeddedFont>
      <ns0:font typeface="Inter"/>
      <ns0:bold ns1:id="rIdFont20"/>
      <ns0:regular ns1:id="rIdFont21"/>
    </ns0:embeddedFont>
    <ns0:embeddedFont>
      <ns0:font typeface="Outfit"/>
      <ns0:bold ns1:id="rIdFont22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Font20" Type="http://schemas.openxmlformats.org/officeDocument/2006/relationships/font" Target="fonts/04e3ee83-65fe-4521-b83c-39aa68d9cef2.fntdata" /><ns0:Relationship Id="rIdFont21" Type="http://schemas.openxmlformats.org/officeDocument/2006/relationships/font" Target="fonts/dbb9efc5-38ba-406d-ac92-588fff97271b.fntdata" /><ns0:Relationship Id="rIdFont22" Type="http://schemas.openxmlformats.org/officeDocument/2006/relationships/font" Target="fonts/3c687852-dc3c-49c0-9465-36a46c4975a1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0" y="4676775"/>
            <a:ext cx="3962400" cy="419100"/>
          </a:xfrm>
          <a:prstGeom prst="roundRect">
            <a:avLst>
              <a:gd name="adj" fmla="val 18181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762125"/>
            <a:ext cx="762000" cy="762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500" y="1952625"/>
            <a:ext cx="381000" cy="381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4810125"/>
            <a:ext cx="133350" cy="152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795462" y="2828925"/>
            <a:ext cx="8601075" cy="866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5400" i="0" u="none">
                <a:solidFill>
                  <a:srgbClr val="F8FAFC"/>
                </a:solidFill>
                <a:latin typeface="Outfit"/>
              </a:rPr>
              <a:t>Spidey-Sense Transit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3092" y="3848100"/>
            <a:ext cx="6525815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2400" i="0" u="none">
                <a:solidFill>
                  <a:srgbClr val="94A3B8"/>
                </a:solidFill>
                <a:latin typeface="Inter"/>
              </a:rPr>
              <a:t>Multimodal Transit Sync &amp; Routing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83856" y="4791075"/>
            <a:ext cx="407193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CBD5E1"/>
                </a:solidFill>
                <a:latin typeface="Inter"/>
              </a:rPr>
              <a:t>BUILT ON RAILDETOUR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0"/>
            <a:ext cx="5334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0"/>
            <a:ext cx="5334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201292"/>
            <a:ext cx="266700" cy="2762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4134742"/>
            <a:ext cx="333375" cy="27622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1194494"/>
            <a:ext cx="66675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F4444"/>
                </a:solidFill>
                <a:latin typeface="Outfit"/>
              </a:rPr>
              <a:t>01 / 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537394"/>
            <a:ext cx="5700712" cy="1173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620"/>
              </a:lnSpc>
            </a:pPr>
            <a:r>
              <a:rPr b="1" sz="4200" i="0" u="none">
                <a:solidFill>
                  <a:srgbClr val="0F172A"/>
                </a:solidFill>
                <a:latin typeface="Outfit"/>
              </a:rPr>
              <a:t>The Disconnected Commute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9200" y="3167955"/>
            <a:ext cx="5313164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Outfit"/>
              </a:rPr>
              <a:t>Unsynchronized Timetables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9200" y="3529905"/>
            <a:ext cx="5060156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64748B"/>
                </a:solidFill>
                <a:latin typeface="Inter"/>
              </a:rPr>
              <a:t>Ferries and feeder autos ignore train delays.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5875" y="4101405"/>
            <a:ext cx="616327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Outfit"/>
              </a:rPr>
              <a:t>Stranded Passengers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5875" y="4463355"/>
            <a:ext cx="586978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64748B"/>
                </a:solidFill>
                <a:latin typeface="Inter"/>
              </a:rPr>
              <a:t>Missed connections cost daily wage earners hours.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2500" y="5034855"/>
            <a:ext cx="5825728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Outfit"/>
              </a:rPr>
              <a:t>Invisible Disruptions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2500" y="5396805"/>
            <a:ext cx="5548312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b="0" sz="1500" i="0" u="none">
                <a:solidFill>
                  <a:srgbClr val="64748B"/>
                </a:solidFill>
                <a:latin typeface="Inter"/>
              </a:rPr>
              <a:t>Closed level crossings break the last-mile chain.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895850" y="4644181"/>
            <a:ext cx="19050" cy="7620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877175" y="4644181"/>
            <a:ext cx="19050" cy="7620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9425" y="4606081"/>
            <a:ext cx="457200" cy="457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7437" y="4606081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15412" y="4606081"/>
            <a:ext cx="457200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619625" y="1413569"/>
            <a:ext cx="29527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3B82F6"/>
                </a:solidFill>
                <a:latin typeface="Outfit"/>
              </a:rPr>
              <a:t>02 / PROPOSED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437" y="1832669"/>
            <a:ext cx="12049125" cy="20114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b="1" sz="4800" i="0" u="none">
                <a:solidFill>
                  <a:srgbClr val="0F172A"/>
                </a:solidFill>
                <a:latin typeface="Outfit"/>
              </a:rPr>
              <a:t>A lightweight, community-powered multimodal transit planner.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50243" y="5215681"/>
            <a:ext cx="2595562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475569"/>
                </a:solidFill>
                <a:latin typeface="Inter"/>
              </a:rPr>
              <a:t>Crowdsourced Signals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6615" y="5215681"/>
            <a:ext cx="2178843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475569"/>
                </a:solidFill>
                <a:latin typeface="Inter"/>
              </a:rPr>
              <a:t>Dynamic Rerouting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278" y="5215681"/>
            <a:ext cx="1845468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475569"/>
                </a:solidFill>
                <a:latin typeface="Inter"/>
              </a:rPr>
              <a:t>Proactive Alerts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286000"/>
            <a:ext cx="3657600" cy="381000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724400" y="2286000"/>
            <a:ext cx="3657600" cy="381000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2743200"/>
            <a:ext cx="381000" cy="381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600" y="2743200"/>
            <a:ext cx="476250" cy="38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0" y="2286000"/>
            <a:ext cx="2743200" cy="381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762000"/>
            <a:ext cx="11430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B82F6"/>
                </a:solidFill>
                <a:latin typeface="Outfit"/>
              </a:rPr>
              <a:t>03 / TARGET USERS &amp; USE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104900"/>
            <a:ext cx="11430000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0F172A"/>
                </a:solidFill>
                <a:latin typeface="Outfit"/>
              </a:rPr>
              <a:t>Built for the complex Kerala commute.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9200" y="3352800"/>
            <a:ext cx="3600450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Outfit"/>
              </a:rPr>
              <a:t>Daily Commuters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200" y="3838575"/>
            <a:ext cx="283845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64748B"/>
                </a:solidFill>
                <a:latin typeface="Inter"/>
              </a:rPr>
              <a:t>Navigating tight transfers between KSRTC buses and local passenger ferries.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81600" y="3352800"/>
            <a:ext cx="3600450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Outfit"/>
              </a:rPr>
              <a:t>Students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81600" y="3838575"/>
            <a:ext cx="2838450" cy="771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64748B"/>
                </a:solidFill>
                <a:latin typeface="Inter"/>
              </a:rPr>
              <a:t>Relying on last-mile feeder autos to reach off-grid campuses safely.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495550"/>
            <a:ext cx="5181600" cy="156210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495550"/>
            <a:ext cx="5181600" cy="1562100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2000" y="4362450"/>
            <a:ext cx="5181600" cy="13716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48400" y="4362450"/>
            <a:ext cx="5181600" cy="13716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48400" y="4362450"/>
            <a:ext cx="38100" cy="13716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2000" y="1123950"/>
            <a:ext cx="11430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B82F6"/>
                </a:solidFill>
                <a:latin typeface="Outfit"/>
              </a:rPr>
              <a:t>04 / KEY FEATURES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466850"/>
            <a:ext cx="11430000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0F172A"/>
                </a:solidFill>
                <a:latin typeface="Outfit"/>
              </a:rPr>
              <a:t>Intelligence at every node.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2876550"/>
            <a:ext cx="580072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Outfit"/>
              </a:rPr>
              <a:t>Transfer Risk Scoring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276600"/>
            <a:ext cx="45148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Automated High/Med/Low risk assessment between modes.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876550"/>
            <a:ext cx="55626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Outfit"/>
              </a:rPr>
              <a:t>Community Delay Updates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276600"/>
            <a:ext cx="5524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Crowdsourced real-time schedule adjustments.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743450"/>
            <a:ext cx="5800725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Outfit"/>
              </a:rPr>
              <a:t>Multimodal Alternatives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143500"/>
            <a:ext cx="5524500" cy="2095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Instant fallback generation (e.g., Train → Ferry).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7500" y="4743450"/>
            <a:ext cx="552450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Outfit"/>
              </a:rPr>
              <a:t>RailDetour Intelligence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67500" y="5143500"/>
            <a:ext cx="54768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Level-crossing closure prediction and road rerouting.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95400" y="2971800"/>
            <a:ext cx="9601200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762000"/>
            <a:ext cx="11430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B82F6"/>
                </a:solidFill>
                <a:latin typeface="Outfit"/>
              </a:rPr>
              <a:t>05 /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104900"/>
            <a:ext cx="11430000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0F172A"/>
                </a:solidFill>
                <a:latin typeface="Outfit"/>
              </a:rPr>
              <a:t>Seamless risk mitigation.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924050" y="281940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91050" y="281940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258050" y="281940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925050" y="281940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81175" y="2819400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5281" y="3390900"/>
            <a:ext cx="3500437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F172A"/>
                </a:solidFill>
                <a:latin typeface="Outfit"/>
              </a:rPr>
              <a:t>Plan Journey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8625" y="3733800"/>
            <a:ext cx="33337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Inter"/>
              </a:rPr>
              <a:t>Origin, destination, and departure time set.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8175" y="2819400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2281" y="3390900"/>
            <a:ext cx="3500437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F172A"/>
                </a:solidFill>
                <a:latin typeface="Outfit"/>
              </a:rPr>
              <a:t>Sync Schedules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95625" y="3733800"/>
            <a:ext cx="33337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Inter"/>
              </a:rPr>
              <a:t>Cross-reference baseline timetables.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15175" y="2819400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79281" y="3390900"/>
            <a:ext cx="3500437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F172A"/>
                </a:solidFill>
                <a:latin typeface="Outfit"/>
              </a:rPr>
              <a:t>Flag Risks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2625" y="3733800"/>
            <a:ext cx="33337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Inter"/>
              </a:rPr>
              <a:t>Detect overlapping ETAs via community data.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82175" y="2819400"/>
            <a:ext cx="62865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F8FAFC"/>
                </a:solidFill>
                <a:latin typeface="Inter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6281" y="3390900"/>
            <a:ext cx="3500437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650" i="0" u="none">
                <a:solidFill>
                  <a:srgbClr val="0F172A"/>
                </a:solidFill>
                <a:latin typeface="Outfit"/>
              </a:rPr>
              <a:t>Suggest Fallback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29625" y="3733800"/>
            <a:ext cx="33337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Inter"/>
              </a:rPr>
              <a:t>Provide immediate alternative multimodal path.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262312"/>
            <a:ext cx="533400" cy="5334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5049" y="3262312"/>
            <a:ext cx="666750" cy="533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8099" y="3262312"/>
            <a:ext cx="533400" cy="533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1738312"/>
            <a:ext cx="11430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B82F6"/>
                </a:solidFill>
                <a:latin typeface="Outfit"/>
              </a:rPr>
              <a:t>06 / TECHNOLOGY &amp;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081212"/>
            <a:ext cx="11430000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F8FAFC"/>
                </a:solidFill>
                <a:latin typeface="Outfit"/>
              </a:rPr>
              <a:t>Modern, stateless prototype architecture.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4024312"/>
            <a:ext cx="433394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F8FAFC"/>
                </a:solidFill>
                <a:latin typeface="Outfit"/>
              </a:rPr>
              <a:t>React 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4519612"/>
            <a:ext cx="3397299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94A3B8"/>
                </a:solidFill>
                <a:latin typeface="Inter"/>
              </a:rPr>
              <a:t>Responsive dashboard. LocalStorage state management for hackathon demo limits.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5049" y="4024312"/>
            <a:ext cx="433394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F8FAFC"/>
                </a:solidFill>
                <a:latin typeface="Outfit"/>
              </a:rPr>
              <a:t>TypeScript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45049" y="4519612"/>
            <a:ext cx="339729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94A3B8"/>
                </a:solidFill>
                <a:latin typeface="Inter"/>
              </a:rPr>
              <a:t>Strict type safety for complex multimodal route data interfaces.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99" y="4024312"/>
            <a:ext cx="40639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F8FAFC"/>
                </a:solidFill>
                <a:latin typeface="Outfit"/>
              </a:rPr>
              <a:t>Express Node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8099" y="4519612"/>
            <a:ext cx="339729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94A3B8"/>
                </a:solidFill>
                <a:latin typeface="Inter"/>
              </a:rPr>
              <a:t>Lightweight API endpoints processing demo transit schedules and risk logic.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800100"/>
            <a:ext cx="10972800" cy="5600700"/>
          </a:xfrm>
          <a:prstGeom prst="roundRect">
            <a:avLst>
              <a:gd name="adj" fmla="val 2721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9125" y="809625"/>
            <a:ext cx="3429000" cy="55816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048125" y="809625"/>
            <a:ext cx="7524750" cy="558165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23925" y="5381625"/>
            <a:ext cx="2819400" cy="704850"/>
          </a:xfrm>
          <a:prstGeom prst="roundRect">
            <a:avLst>
              <a:gd name="adj" fmla="val 16216"/>
            </a:avLst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05325" y="1738312"/>
            <a:ext cx="6610350" cy="1581150"/>
          </a:xfrm>
          <a:prstGeom prst="roundRect">
            <a:avLst>
              <a:gd name="adj" fmla="val 9638"/>
            </a:avLst>
          </a:prstGeom>
          <a:solidFill>
            <a:srgbClr val="251C2D"/>
          </a:solidFill>
          <a:ln w="9525">
            <a:solidFill>
              <a:srgbClr val="EF4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05325" y="3624262"/>
            <a:ext cx="6610350" cy="1838325"/>
          </a:xfrm>
          <a:prstGeom prst="roundRect">
            <a:avLst>
              <a:gd name="adj" fmla="val 8290"/>
            </a:avLst>
          </a:prstGeom>
          <a:solidFill>
            <a:srgbClr val="1E293B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23925" y="16383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71550" y="1752600"/>
            <a:ext cx="19050" cy="4572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23925" y="2209800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001250" y="2085975"/>
            <a:ext cx="800100" cy="219075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944100" y="3971925"/>
            <a:ext cx="857250" cy="219075"/>
          </a:xfrm>
          <a:prstGeom prst="roundRect">
            <a:avLst>
              <a:gd name="adj" fmla="val 50000"/>
            </a:avLst>
          </a:prstGeom>
          <a:solidFill>
            <a:srgbClr val="DCFC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439025" y="4805362"/>
            <a:ext cx="1733550" cy="342900"/>
          </a:xfrm>
          <a:prstGeom prst="roundRect">
            <a:avLst>
              <a:gd name="adj" fmla="val 22222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" y="5791200"/>
            <a:ext cx="133350" cy="1333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7375" y="4900612"/>
            <a:ext cx="133350" cy="1524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7075" y="4900612"/>
            <a:ext cx="133350" cy="1524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9650" y="4881562"/>
            <a:ext cx="171450" cy="1905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9325" y="4881562"/>
            <a:ext cx="123825" cy="1905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91425" y="4881562"/>
            <a:ext cx="219075" cy="1905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09600" y="457200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B82F6"/>
                </a:solidFill>
                <a:latin typeface="Outfit"/>
              </a:rPr>
              <a:t>07 / PROTOTYPE: TRANSFER RISK UI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925" y="1114425"/>
            <a:ext cx="3700462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FFFFFF"/>
                </a:solidFill>
                <a:latin typeface="Outfit"/>
              </a:rPr>
              <a:t>Active Journey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6325" y="5534025"/>
            <a:ext cx="31432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CBD5E1"/>
                </a:solidFill>
                <a:latin typeface="Inter"/>
              </a:rPr>
              <a:t>Recent Report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6325" y="5772150"/>
            <a:ext cx="3143250" cy="161925"/>
          </a:xfrm>
          <a:prstGeom prst="rect">
            <a:avLst/>
          </a:prstGeom>
          <a:noFill/>
        </p:spPr>
        <p:txBody>
          <a:bodyPr wrap="none" lIns="20955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8FAFC"/>
                </a:solidFill>
                <a:latin typeface="Inter"/>
              </a:rPr>
              <a:t>Train delayed by 25m.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19650" y="2490787"/>
            <a:ext cx="607695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F8FAFC"/>
                </a:solidFill>
                <a:latin typeface="Inter"/>
              </a:rPr>
              <a:t>Train arrival ETA (09:40 AM) exceeds KSRTC feeder bus departure (09:35 AM). Connection will be missed.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19650" y="4376737"/>
            <a:ext cx="73723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CBD5E1"/>
                </a:solidFill>
                <a:latin typeface="Inter"/>
              </a:rPr>
              <a:t>Switch to Water Transport.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90625" y="1581150"/>
            <a:ext cx="233362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8FAFC"/>
                </a:solidFill>
                <a:latin typeface="Inter"/>
              </a:rPr>
              <a:t>Kollam Junction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90625" y="1809750"/>
            <a:ext cx="23336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Inter"/>
              </a:rPr>
              <a:t>09:15 AM (Delayed)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90625" y="2200275"/>
            <a:ext cx="233362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8FAFC"/>
                </a:solidFill>
                <a:latin typeface="Inter"/>
              </a:rPr>
              <a:t>Ashtamudi Ferry Terminal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90625" y="2428875"/>
            <a:ext cx="23336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Inter"/>
              </a:rPr>
              <a:t>10:05 AM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19650" y="2052637"/>
            <a:ext cx="3175396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FCA5A5"/>
                </a:solidFill>
                <a:latin typeface="Outfit"/>
              </a:rPr>
              <a:t>Transfer Risk Detected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15550" y="2124075"/>
            <a:ext cx="66675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991B1B"/>
                </a:solidFill>
                <a:latin typeface="Inter"/>
              </a:rPr>
              <a:t>HIGH RISK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19650" y="3938587"/>
            <a:ext cx="4088010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93C5FD"/>
                </a:solidFill>
                <a:latin typeface="Outfit"/>
              </a:rPr>
              <a:t>Alternative Multimodal Route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58400" y="4010025"/>
            <a:ext cx="723900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166534"/>
                </a:solidFill>
                <a:latin typeface="Inter"/>
              </a:rPr>
              <a:t>AVAILABLE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67300" y="4881562"/>
            <a:ext cx="65722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8FAFC"/>
                </a:solidFill>
                <a:latin typeface="Inter"/>
              </a:rPr>
              <a:t>Train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29350" y="4881562"/>
            <a:ext cx="90487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8FAFC"/>
                </a:solidFill>
                <a:latin typeface="Inter"/>
              </a:rPr>
              <a:t>Walk 5m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86700" y="4881562"/>
            <a:ext cx="141922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Inter"/>
              </a:rPr>
              <a:t>09:55 AM Ferry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429000"/>
            <a:ext cx="5334000" cy="3429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0" y="4165252"/>
            <a:ext cx="5334000" cy="113347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0" y="4165252"/>
            <a:ext cx="38100" cy="1133475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334000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96000" y="1559272"/>
            <a:ext cx="6096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EF4444"/>
                </a:solidFill>
                <a:latin typeface="Outfit"/>
              </a:rPr>
              <a:t>08 / LEGACY FEATURE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0" y="1902172"/>
            <a:ext cx="5700712" cy="1005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59"/>
              </a:lnSpc>
            </a:pPr>
            <a:r>
              <a:rPr b="1" sz="3600" i="0" u="none">
                <a:solidFill>
                  <a:srgbClr val="F8FAFC"/>
                </a:solidFill>
                <a:latin typeface="Outfit"/>
              </a:rPr>
              <a:t>Level crossing awareness preserved.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0" y="3212752"/>
            <a:ext cx="542925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sz="1500" i="0" u="none">
                <a:solidFill>
                  <a:srgbClr val="CBD5E1"/>
                </a:solidFill>
                <a:latin typeface="Inter"/>
              </a:rPr>
              <a:t>Original RailDetour crossing intelligence treats trains as dynamic road disruptions.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62700" y="4393852"/>
            <a:ext cx="58293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F8FAFC"/>
                </a:solidFill>
                <a:latin typeface="Outfit"/>
              </a:rPr>
              <a:t>Route Impact Detected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62700" y="4689127"/>
            <a:ext cx="49339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94A3B8"/>
                </a:solidFill>
                <a:latin typeface="Inter"/>
              </a:rPr>
              <a:t>Feeder auto route blocked by active level crossing. Rerouting via overpass bridge.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1237" y="3290887"/>
            <a:ext cx="9525" cy="18002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290887"/>
            <a:ext cx="609600" cy="6096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7962" y="3290887"/>
            <a:ext cx="609600" cy="609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443287"/>
            <a:ext cx="3048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1312" y="3443287"/>
            <a:ext cx="342900" cy="304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1766887"/>
            <a:ext cx="11430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B82F6"/>
                </a:solidFill>
                <a:latin typeface="Outfit"/>
              </a:rPr>
              <a:t>09 / INNOVATION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2109787"/>
            <a:ext cx="11430000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0F172A"/>
                </a:solidFill>
                <a:latin typeface="Outfit"/>
              </a:rPr>
              <a:t>Why Spidey-Sense wins.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4129087"/>
            <a:ext cx="6394549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Outfit"/>
              </a:rPr>
              <a:t>Zero API Dependency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4691062"/>
            <a:ext cx="4967287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Operates without requiring perfect official transport APIs via crowdsourcing.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7962" y="4129087"/>
            <a:ext cx="5634037" cy="3333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Outfit"/>
              </a:rPr>
              <a:t>Cross-Modal 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7962" y="4691062"/>
            <a:ext cx="4967287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64748B"/>
                </a:solidFill>
                <a:latin typeface="Inter"/>
              </a:rPr>
              <a:t>Understands that a train delay impacts a ferry schedule, not just the rail network.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857500"/>
            <a:ext cx="7620000" cy="6858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3771900"/>
            <a:ext cx="7620000" cy="6858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2000" y="4686300"/>
            <a:ext cx="7620000" cy="685800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3076575"/>
            <a:ext cx="171450" cy="247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3990975"/>
            <a:ext cx="257175" cy="247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" y="4905375"/>
            <a:ext cx="228600" cy="2476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1485900"/>
            <a:ext cx="11430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B82F6"/>
                </a:solidFill>
                <a:latin typeface="Outfit"/>
              </a:rPr>
              <a:t>10 / FUTURE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1828800"/>
            <a:ext cx="11430000" cy="571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600" i="0" u="none">
                <a:solidFill>
                  <a:srgbClr val="0F172A"/>
                </a:solidFill>
                <a:latin typeface="Outfit"/>
              </a:rPr>
              <a:t>Next steps for production.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6850" y="3086100"/>
            <a:ext cx="4369593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Inter"/>
              </a:rPr>
              <a:t>Live GPS integration for KSRTC buses.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2575" y="4000500"/>
            <a:ext cx="54292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Inter"/>
              </a:rPr>
              <a:t>Unified ticketing for multimodal journey passes.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4000" y="4914900"/>
            <a:ext cx="4274343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Inter"/>
              </a:rPr>
              <a:t>Official government API partnerships.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91200" y="4276725"/>
            <a:ext cx="6096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57970" y="2543175"/>
            <a:ext cx="8476059" cy="7715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F8FAFC"/>
                </a:solidFill>
                <a:latin typeface="Outfit"/>
              </a:rPr>
              <a:t>Ready for deployment.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31406" y="3543300"/>
            <a:ext cx="4929187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94A3B8"/>
                </a:solidFill>
                <a:latin typeface="Inter"/>
              </a:rPr>
              <a:t>Thank you from the RailDetour team.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85725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62877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1619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2390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23907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00125"/>
            <a:ext cx="857250" cy="4762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71650"/>
            <a:ext cx="857250" cy="4762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543175"/>
            <a:ext cx="857250" cy="4762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571500"/>
            <a:ext cx="2012751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00000"/>
                </a:solidFill>
                <a:latin typeface="Outfit"/>
              </a:rPr>
              <a:t>Image 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6875" y="1042987"/>
            <a:ext cx="92868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Inter"/>
              </a:rPr>
              <a:t>https://cf-images.assettype.com/downtoearth%2F2025-05-20%2Flz0ggtcq%2FChennai?w=480&amp;auto=format%2Ccompress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6875" y="1243012"/>
            <a:ext cx="2976562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www.downtoearth.org.in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6875" y="1814512"/>
            <a:ext cx="74295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Inter"/>
              </a:rPr>
              <a:t>https://keralatourpackages.net/wp-content/uploads/2026/02/Kerala-Inland-Waterways-Cruise.webp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6875" y="2014537"/>
            <a:ext cx="28575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keralatourpackages.net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6875" y="2586037"/>
            <a:ext cx="5512593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Inter"/>
              </a:rPr>
              <a:t>https://indiainfrahub.com/wp-content/uploads/2020/11/24BGRAILWAY1.jpg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6875" y="2786062"/>
            <a:ext cx="2369343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indiainfrahub.com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